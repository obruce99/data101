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7" d="100"/>
          <a:sy n="107" d="100"/>
        </p:scale>
        <p:origin x="8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E16392-7DE8-4A5F-ACDA-7FC5A396222B}" type="datetimeFigureOut">
              <a:rPr lang="en-US" smtClean="0"/>
              <a:t>3/15/2026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BB4174DC-E6D6-4B48-B0F2-F60647248AF8}"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124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E16392-7DE8-4A5F-ACDA-7FC5A396222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174DC-E6D6-4B48-B0F2-F60647248AF8}"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06769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E16392-7DE8-4A5F-ACDA-7FC5A396222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174DC-E6D6-4B48-B0F2-F60647248AF8}"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7562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E16392-7DE8-4A5F-ACDA-7FC5A396222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4174DC-E6D6-4B48-B0F2-F60647248AF8}"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6581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E16392-7DE8-4A5F-ACDA-7FC5A396222B}"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4174DC-E6D6-4B48-B0F2-F60647248AF8}"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15564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E16392-7DE8-4A5F-ACDA-7FC5A396222B}"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4174DC-E6D6-4B48-B0F2-F60647248AF8}"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032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E16392-7DE8-4A5F-ACDA-7FC5A396222B}"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4174DC-E6D6-4B48-B0F2-F60647248AF8}" type="slidenum">
              <a:rPr lang="en-US" smtClean="0"/>
              <a:t>‹#›</a:t>
            </a:fld>
            <a:endParaRPr lang="en-US"/>
          </a:p>
        </p:txBody>
      </p:sp>
    </p:spTree>
    <p:extLst>
      <p:ext uri="{BB962C8B-B14F-4D97-AF65-F5344CB8AC3E}">
        <p14:creationId xmlns:p14="http://schemas.microsoft.com/office/powerpoint/2010/main" val="1730586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E16392-7DE8-4A5F-ACDA-7FC5A396222B}"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4174DC-E6D6-4B48-B0F2-F60647248AF8}"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69725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EE16392-7DE8-4A5F-ACDA-7FC5A396222B}" type="datetimeFigureOut">
              <a:rPr lang="en-US" smtClean="0"/>
              <a:t>3/15/2026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B4174DC-E6D6-4B48-B0F2-F60647248AF8}"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85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E16392-7DE8-4A5F-ACDA-7FC5A396222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174DC-E6D6-4B48-B0F2-F60647248AF8}"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7168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E16392-7DE8-4A5F-ACDA-7FC5A396222B}"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174DC-E6D6-4B48-B0F2-F60647248AF8}"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0675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EE16392-7DE8-4A5F-ACDA-7FC5A396222B}" type="datetimeFigureOut">
              <a:rPr lang="en-US" smtClean="0"/>
              <a:t>3/15/2026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B4174DC-E6D6-4B48-B0F2-F60647248AF8}"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1339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xlsx"/><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D4163-4A68-6921-D1FA-DB5B841084A9}"/>
              </a:ext>
            </a:extLst>
          </p:cNvPr>
          <p:cNvSpPr>
            <a:spLocks noGrp="1"/>
          </p:cNvSpPr>
          <p:nvPr>
            <p:ph type="ctrTitle"/>
          </p:nvPr>
        </p:nvSpPr>
        <p:spPr>
          <a:xfrm>
            <a:off x="1482436" y="65459"/>
            <a:ext cx="9144000" cy="2387600"/>
          </a:xfrm>
        </p:spPr>
        <p:txBody>
          <a:bodyPr/>
          <a:lstStyle/>
          <a:p>
            <a:r>
              <a:rPr lang="en-US" dirty="0"/>
              <a:t>U.S. Midterm Elections 2026</a:t>
            </a:r>
          </a:p>
        </p:txBody>
      </p:sp>
      <p:sp>
        <p:nvSpPr>
          <p:cNvPr id="3" name="Subtitle 2">
            <a:extLst>
              <a:ext uri="{FF2B5EF4-FFF2-40B4-BE49-F238E27FC236}">
                <a16:creationId xmlns:a16="http://schemas.microsoft.com/office/drawing/2014/main" id="{03908EE7-C318-003B-C965-C27FC7055023}"/>
              </a:ext>
            </a:extLst>
          </p:cNvPr>
          <p:cNvSpPr>
            <a:spLocks noGrp="1"/>
          </p:cNvSpPr>
          <p:nvPr>
            <p:ph type="subTitle" idx="1"/>
          </p:nvPr>
        </p:nvSpPr>
        <p:spPr>
          <a:xfrm>
            <a:off x="1524000" y="3568535"/>
            <a:ext cx="9144000" cy="2188028"/>
          </a:xfrm>
        </p:spPr>
        <p:txBody>
          <a:bodyPr>
            <a:normAutofit fontScale="77500" lnSpcReduction="20000"/>
          </a:bodyPr>
          <a:lstStyle/>
          <a:p>
            <a:endParaRPr lang="en-US" dirty="0"/>
          </a:p>
          <a:p>
            <a:endParaRPr lang="en-US" sz="1500" dirty="0"/>
          </a:p>
          <a:p>
            <a:pPr algn="r"/>
            <a:r>
              <a:rPr lang="en-US" sz="1900" dirty="0"/>
              <a:t>OMAR </a:t>
            </a:r>
            <a:r>
              <a:rPr lang="en-US" sz="1900" dirty="0" err="1"/>
              <a:t>bruce</a:t>
            </a:r>
            <a:endParaRPr lang="en-US" sz="1900" dirty="0"/>
          </a:p>
          <a:p>
            <a:pPr algn="r"/>
            <a:r>
              <a:rPr lang="en-US" sz="1900" dirty="0"/>
              <a:t>3/15/2026</a:t>
            </a:r>
          </a:p>
          <a:p>
            <a:pPr algn="r"/>
            <a:r>
              <a:rPr lang="en-US" sz="1900" dirty="0"/>
              <a:t>Data101</a:t>
            </a:r>
          </a:p>
          <a:p>
            <a:pPr algn="r"/>
            <a:r>
              <a:rPr lang="en-US" sz="1900" dirty="0"/>
              <a:t>Project #1</a:t>
            </a:r>
          </a:p>
          <a:p>
            <a:pPr>
              <a:lnSpc>
                <a:spcPct val="100000"/>
              </a:lnSpc>
            </a:pPr>
            <a:endParaRPr lang="en-US" sz="1900" dirty="0"/>
          </a:p>
          <a:p>
            <a:pPr>
              <a:lnSpc>
                <a:spcPct val="100000"/>
              </a:lnSpc>
            </a:pPr>
            <a:endParaRPr lang="en-US" sz="1500" dirty="0"/>
          </a:p>
        </p:txBody>
      </p:sp>
    </p:spTree>
    <p:extLst>
      <p:ext uri="{BB962C8B-B14F-4D97-AF65-F5344CB8AC3E}">
        <p14:creationId xmlns:p14="http://schemas.microsoft.com/office/powerpoint/2010/main" val="3073333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A23F8-EF49-F62B-4B34-5FCD292E389C}"/>
              </a:ext>
            </a:extLst>
          </p:cNvPr>
          <p:cNvSpPr>
            <a:spLocks noGrp="1"/>
          </p:cNvSpPr>
          <p:nvPr>
            <p:ph type="title"/>
          </p:nvPr>
        </p:nvSpPr>
        <p:spPr/>
        <p:txBody>
          <a:bodyPr>
            <a:normAutofit fontScale="90000"/>
          </a:bodyPr>
          <a:lstStyle/>
          <a:p>
            <a:r>
              <a:rPr lang="en-US" sz="2700" dirty="0"/>
              <a:t>Will Republicans or Democrats control Congress?</a:t>
            </a:r>
            <a:br>
              <a:rPr lang="en-US" sz="2700" dirty="0"/>
            </a:br>
            <a:br>
              <a:rPr lang="en-US" dirty="0"/>
            </a:br>
            <a:r>
              <a:rPr lang="en-US" sz="2200" dirty="0"/>
              <a:t>Why does it matter?</a:t>
            </a:r>
          </a:p>
        </p:txBody>
      </p:sp>
      <p:sp>
        <p:nvSpPr>
          <p:cNvPr id="3" name="Content Placeholder 2">
            <a:extLst>
              <a:ext uri="{FF2B5EF4-FFF2-40B4-BE49-F238E27FC236}">
                <a16:creationId xmlns:a16="http://schemas.microsoft.com/office/drawing/2014/main" id="{69809482-307E-E863-CF31-80091E3CA3E7}"/>
              </a:ext>
            </a:extLst>
          </p:cNvPr>
          <p:cNvSpPr>
            <a:spLocks noGrp="1"/>
          </p:cNvSpPr>
          <p:nvPr>
            <p:ph idx="1"/>
          </p:nvPr>
        </p:nvSpPr>
        <p:spPr/>
        <p:txBody>
          <a:bodyPr/>
          <a:lstStyle/>
          <a:p>
            <a:r>
              <a:rPr lang="en-US" dirty="0"/>
              <a:t>The 2026 midterm elections will have huge implications for the United States government. </a:t>
            </a:r>
          </a:p>
          <a:p>
            <a:r>
              <a:rPr lang="en-US" dirty="0"/>
              <a:t>A majority in the House of Representatives for the Democrats would give them leverage over the budget and likely kick off a number of investigations into Trump and his people.</a:t>
            </a:r>
          </a:p>
          <a:p>
            <a:r>
              <a:rPr lang="en-US" dirty="0"/>
              <a:t>A Senate majority for Democrats would make it more difficult for the Trump Administration to confirm appointees and pass legislation. </a:t>
            </a:r>
          </a:p>
          <a:p>
            <a:r>
              <a:rPr lang="en-US" dirty="0"/>
              <a:t>A majority in both branches of Congress could effectively render Donald Trump a lame duck President with two years left of his final term. </a:t>
            </a:r>
          </a:p>
        </p:txBody>
      </p:sp>
    </p:spTree>
    <p:extLst>
      <p:ext uri="{BB962C8B-B14F-4D97-AF65-F5344CB8AC3E}">
        <p14:creationId xmlns:p14="http://schemas.microsoft.com/office/powerpoint/2010/main" val="2775859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39122-4493-B698-B33A-724C6D7A5205}"/>
              </a:ext>
            </a:extLst>
          </p:cNvPr>
          <p:cNvSpPr>
            <a:spLocks noGrp="1"/>
          </p:cNvSpPr>
          <p:nvPr>
            <p:ph type="title"/>
          </p:nvPr>
        </p:nvSpPr>
        <p:spPr/>
        <p:txBody>
          <a:bodyPr/>
          <a:lstStyle/>
          <a:p>
            <a:r>
              <a:rPr lang="en-US" dirty="0"/>
              <a:t>What is the appropriate dataset?</a:t>
            </a:r>
          </a:p>
        </p:txBody>
      </p:sp>
      <p:sp>
        <p:nvSpPr>
          <p:cNvPr id="3" name="Content Placeholder 2">
            <a:extLst>
              <a:ext uri="{FF2B5EF4-FFF2-40B4-BE49-F238E27FC236}">
                <a16:creationId xmlns:a16="http://schemas.microsoft.com/office/drawing/2014/main" id="{A33CABEA-BABF-EF8E-A757-400FFEFC89D3}"/>
              </a:ext>
            </a:extLst>
          </p:cNvPr>
          <p:cNvSpPr>
            <a:spLocks noGrp="1"/>
          </p:cNvSpPr>
          <p:nvPr>
            <p:ph idx="1"/>
          </p:nvPr>
        </p:nvSpPr>
        <p:spPr/>
        <p:txBody>
          <a:bodyPr>
            <a:normAutofit fontScale="92500" lnSpcReduction="10000"/>
          </a:bodyPr>
          <a:lstStyle/>
          <a:p>
            <a:r>
              <a:rPr lang="en-US" dirty="0"/>
              <a:t>The number one predictor of midterm elections has proven to be the Generic Congressional Ballot. This survey asks participants, “If the midterm elections were being held today, which party would you vote for in Congress?”</a:t>
            </a:r>
          </a:p>
          <a:p>
            <a:r>
              <a:rPr lang="en-US" dirty="0"/>
              <a:t>For this analysis I chose an aggregation of over 300 Generic Congressional Ballot polls conducted since the second election of Donald Trump. </a:t>
            </a:r>
          </a:p>
          <a:p>
            <a:r>
              <a:rPr lang="en-US" dirty="0"/>
              <a:t>The source is natesilver.net, a well-respected poll analysis blog from Nate Silver, founder of the once famous FiveThirtyEight blog. </a:t>
            </a:r>
          </a:p>
          <a:p>
            <a:r>
              <a:rPr lang="en-US" dirty="0"/>
              <a:t>The individual polls come from a collection of the most recognized pollsters in the country, including The Washington Post, New York Times, Ipsos, Gallup, CNN, and Fox News. </a:t>
            </a:r>
          </a:p>
        </p:txBody>
      </p:sp>
    </p:spTree>
    <p:extLst>
      <p:ext uri="{BB962C8B-B14F-4D97-AF65-F5344CB8AC3E}">
        <p14:creationId xmlns:p14="http://schemas.microsoft.com/office/powerpoint/2010/main" val="1293710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5000A4C6-D10D-9F94-3367-C77A4957508D}"/>
              </a:ext>
            </a:extLst>
          </p:cNvPr>
          <p:cNvGraphicFramePr>
            <a:graphicFrameLocks noChangeAspect="1"/>
          </p:cNvGraphicFramePr>
          <p:nvPr>
            <p:extLst>
              <p:ext uri="{D42A27DB-BD31-4B8C-83A1-F6EECF244321}">
                <p14:modId xmlns:p14="http://schemas.microsoft.com/office/powerpoint/2010/main" val="2013599171"/>
              </p:ext>
            </p:extLst>
          </p:nvPr>
        </p:nvGraphicFramePr>
        <p:xfrm>
          <a:off x="5483225" y="3240088"/>
          <a:ext cx="1225550" cy="374650"/>
        </p:xfrm>
        <a:graphic>
          <a:graphicData uri="http://schemas.openxmlformats.org/presentationml/2006/ole">
            <mc:AlternateContent xmlns:mc="http://schemas.openxmlformats.org/markup-compatibility/2006">
              <mc:Choice xmlns:v="urn:schemas-microsoft-com:vml" Requires="v">
                <p:oleObj name="Worksheet" r:id="rId2" imgW="1225561" imgH="374739" progId="Excel.Sheet.12">
                  <p:embed/>
                </p:oleObj>
              </mc:Choice>
              <mc:Fallback>
                <p:oleObj name="Worksheet" r:id="rId2" imgW="1225561" imgH="374739" progId="Excel.Sheet.12">
                  <p:embed/>
                  <p:pic>
                    <p:nvPicPr>
                      <p:cNvPr id="0" name=""/>
                      <p:cNvPicPr/>
                      <p:nvPr/>
                    </p:nvPicPr>
                    <p:blipFill>
                      <a:blip r:embed="rId3"/>
                      <a:stretch>
                        <a:fillRect/>
                      </a:stretch>
                    </p:blipFill>
                    <p:spPr>
                      <a:xfrm>
                        <a:off x="5483225" y="3240088"/>
                        <a:ext cx="1225550" cy="374650"/>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968DA44D-110E-6D84-4C9D-5386483AE47B}"/>
              </a:ext>
            </a:extLst>
          </p:cNvPr>
          <p:cNvGraphicFramePr>
            <a:graphicFrameLocks noGrp="1"/>
          </p:cNvGraphicFramePr>
          <p:nvPr>
            <p:extLst>
              <p:ext uri="{D42A27DB-BD31-4B8C-83A1-F6EECF244321}">
                <p14:modId xmlns:p14="http://schemas.microsoft.com/office/powerpoint/2010/main" val="372995049"/>
              </p:ext>
            </p:extLst>
          </p:nvPr>
        </p:nvGraphicFramePr>
        <p:xfrm>
          <a:off x="318654" y="492825"/>
          <a:ext cx="11554691" cy="4714501"/>
        </p:xfrm>
        <a:graphic>
          <a:graphicData uri="http://schemas.openxmlformats.org/drawingml/2006/table">
            <a:tbl>
              <a:tblPr>
                <a:tableStyleId>{5C22544A-7EE6-4342-B048-85BDC9FD1C3A}</a:tableStyleId>
              </a:tblPr>
              <a:tblGrid>
                <a:gridCol w="4104744">
                  <a:extLst>
                    <a:ext uri="{9D8B030D-6E8A-4147-A177-3AD203B41FA5}">
                      <a16:colId xmlns:a16="http://schemas.microsoft.com/office/drawing/2014/main" val="454932962"/>
                    </a:ext>
                  </a:extLst>
                </a:gridCol>
                <a:gridCol w="937303">
                  <a:extLst>
                    <a:ext uri="{9D8B030D-6E8A-4147-A177-3AD203B41FA5}">
                      <a16:colId xmlns:a16="http://schemas.microsoft.com/office/drawing/2014/main" val="825460141"/>
                    </a:ext>
                  </a:extLst>
                </a:gridCol>
                <a:gridCol w="937303">
                  <a:extLst>
                    <a:ext uri="{9D8B030D-6E8A-4147-A177-3AD203B41FA5}">
                      <a16:colId xmlns:a16="http://schemas.microsoft.com/office/drawing/2014/main" val="2439400201"/>
                    </a:ext>
                  </a:extLst>
                </a:gridCol>
                <a:gridCol w="1131229">
                  <a:extLst>
                    <a:ext uri="{9D8B030D-6E8A-4147-A177-3AD203B41FA5}">
                      <a16:colId xmlns:a16="http://schemas.microsoft.com/office/drawing/2014/main" val="942526614"/>
                    </a:ext>
                  </a:extLst>
                </a:gridCol>
                <a:gridCol w="1050427">
                  <a:extLst>
                    <a:ext uri="{9D8B030D-6E8A-4147-A177-3AD203B41FA5}">
                      <a16:colId xmlns:a16="http://schemas.microsoft.com/office/drawing/2014/main" val="3393179218"/>
                    </a:ext>
                  </a:extLst>
                </a:gridCol>
                <a:gridCol w="1971569">
                  <a:extLst>
                    <a:ext uri="{9D8B030D-6E8A-4147-A177-3AD203B41FA5}">
                      <a16:colId xmlns:a16="http://schemas.microsoft.com/office/drawing/2014/main" val="3899220710"/>
                    </a:ext>
                  </a:extLst>
                </a:gridCol>
                <a:gridCol w="1422116">
                  <a:extLst>
                    <a:ext uri="{9D8B030D-6E8A-4147-A177-3AD203B41FA5}">
                      <a16:colId xmlns:a16="http://schemas.microsoft.com/office/drawing/2014/main" val="1153025085"/>
                    </a:ext>
                  </a:extLst>
                </a:gridCol>
              </a:tblGrid>
              <a:tr h="428591">
                <a:tc>
                  <a:txBody>
                    <a:bodyPr/>
                    <a:lstStyle/>
                    <a:p>
                      <a:pPr algn="l" fontAlgn="b">
                        <a:buNone/>
                      </a:pPr>
                      <a:r>
                        <a:rPr lang="en-US" sz="1100" u="none" strike="noStrike">
                          <a:effectLst/>
                        </a:rPr>
                        <a:t>pollster</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startdate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enddate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adjusted_dem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adjusted_rep</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adjusted_net</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poll_id</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86759260"/>
                  </a:ext>
                </a:extLst>
              </a:tr>
              <a:tr h="428591">
                <a:tc>
                  <a:txBody>
                    <a:bodyPr/>
                    <a:lstStyle/>
                    <a:p>
                      <a:pPr algn="l" fontAlgn="b">
                        <a:buNone/>
                      </a:pPr>
                      <a:r>
                        <a:rPr lang="en-US" sz="1100" u="none" strike="noStrike">
                          <a:effectLst/>
                        </a:rPr>
                        <a:t>Emerson College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2/21/2026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2/22/2026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51.45721</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43.22903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8.22818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901139</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919342654"/>
                  </a:ext>
                </a:extLst>
              </a:tr>
              <a:tr h="428591">
                <a:tc>
                  <a:txBody>
                    <a:bodyPr/>
                    <a:lstStyle/>
                    <a:p>
                      <a:pPr algn="l" fontAlgn="b">
                        <a:buNone/>
                      </a:pPr>
                      <a:r>
                        <a:rPr lang="en-US" sz="1100" u="none" strike="noStrike">
                          <a:effectLst/>
                        </a:rPr>
                        <a:t>Hart Research Associates/Public Opinion Strategies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2/27/2026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3/3/2026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48.59388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42.792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5.80188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901183</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01888593"/>
                  </a:ext>
                </a:extLst>
              </a:tr>
              <a:tr h="428591">
                <a:tc>
                  <a:txBody>
                    <a:bodyPr/>
                    <a:lstStyle/>
                    <a:p>
                      <a:pPr algn="l" fontAlgn="b">
                        <a:buNone/>
                      </a:pPr>
                      <a:r>
                        <a:rPr lang="en-US" sz="1100" u="none" strike="noStrike">
                          <a:effectLst/>
                        </a:rPr>
                        <a:t>Cygnal</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2/24/2026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2/26/2026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47.66132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42.51203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5.149288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901177</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15015177"/>
                  </a:ext>
                </a:extLst>
              </a:tr>
              <a:tr h="428591">
                <a:tc>
                  <a:txBody>
                    <a:bodyPr/>
                    <a:lstStyle/>
                    <a:p>
                      <a:pPr algn="l" fontAlgn="b">
                        <a:buNone/>
                      </a:pPr>
                      <a:r>
                        <a:rPr lang="en-US" sz="1100" u="none" strike="noStrike">
                          <a:effectLst/>
                        </a:rPr>
                        <a:t>Echelon Insights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2/19/2026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2/23/2026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49.32269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43.64447</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5.678219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901127</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472091124"/>
                  </a:ext>
                </a:extLst>
              </a:tr>
              <a:tr h="428591">
                <a:tc>
                  <a:txBody>
                    <a:bodyPr/>
                    <a:lstStyle/>
                    <a:p>
                      <a:pPr algn="l" fontAlgn="b">
                        <a:buNone/>
                      </a:pPr>
                      <a:r>
                        <a:rPr lang="en-US" sz="1100" u="none" strike="noStrike">
                          <a:effectLst/>
                        </a:rPr>
                        <a:t>TIPP Insights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1/27/2026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1/29/2026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45.67573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42.1384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3.537331</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901111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18617251"/>
                  </a:ext>
                </a:extLst>
              </a:tr>
              <a:tr h="428591">
                <a:tc>
                  <a:txBody>
                    <a:bodyPr/>
                    <a:lstStyle/>
                    <a:p>
                      <a:pPr algn="l" fontAlgn="b">
                        <a:buNone/>
                      </a:pPr>
                      <a:r>
                        <a:rPr lang="en-US" sz="1100" u="none" strike="noStrike">
                          <a:effectLst/>
                        </a:rPr>
                        <a:t>The New York Times/Siena College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1/12/2026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1/17/2026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47.69293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42.48041</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5.212517</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901038</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5332980"/>
                  </a:ext>
                </a:extLst>
              </a:tr>
              <a:tr h="428591">
                <a:tc>
                  <a:txBody>
                    <a:bodyPr/>
                    <a:lstStyle/>
                    <a:p>
                      <a:pPr algn="l" fontAlgn="b">
                        <a:buNone/>
                      </a:pPr>
                      <a:r>
                        <a:rPr lang="en-US" sz="1100" u="none" strike="noStrike">
                          <a:effectLst/>
                        </a:rPr>
                        <a:t>Cygnal</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2/3/2026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2/4/2026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46.95755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42.5158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4.44175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901099</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07258358"/>
                  </a:ext>
                </a:extLst>
              </a:tr>
              <a:tr h="428591">
                <a:tc>
                  <a:txBody>
                    <a:bodyPr/>
                    <a:lstStyle/>
                    <a:p>
                      <a:pPr algn="l" fontAlgn="b">
                        <a:buNone/>
                      </a:pPr>
                      <a:r>
                        <a:rPr lang="en-US" sz="1100" u="none" strike="noStrike">
                          <a:effectLst/>
                        </a:rPr>
                        <a:t>Marquette University Law School</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1/21/2026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1/28/2026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50.25196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44.32963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5.922329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901078</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702525529"/>
                  </a:ext>
                </a:extLst>
              </a:tr>
              <a:tr h="428591">
                <a:tc>
                  <a:txBody>
                    <a:bodyPr/>
                    <a:lstStyle/>
                    <a:p>
                      <a:pPr algn="l" fontAlgn="b">
                        <a:buNone/>
                      </a:pPr>
                      <a:r>
                        <a:rPr lang="en-US" sz="1100" u="none" strike="noStrike">
                          <a:effectLst/>
                        </a:rPr>
                        <a:t>Beacon Research/Shaw &amp; Company Research</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1/23/2026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1/26/2026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50.6918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45.64906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5.04274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901058</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73745533"/>
                  </a:ext>
                </a:extLst>
              </a:tr>
              <a:tr h="428591">
                <a:tc>
                  <a:txBody>
                    <a:bodyPr/>
                    <a:lstStyle/>
                    <a:p>
                      <a:pPr algn="l" fontAlgn="b">
                        <a:buNone/>
                      </a:pPr>
                      <a:r>
                        <a:rPr lang="en-US" sz="1100" u="none" strike="noStrike">
                          <a:effectLst/>
                        </a:rPr>
                        <a:t>John Zogby Strategies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2/4/2026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2/5/2026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47.15905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41.56263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5.59642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901087</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74954109"/>
                  </a:ext>
                </a:extLst>
              </a:tr>
            </a:tbl>
          </a:graphicData>
        </a:graphic>
      </p:graphicFrame>
    </p:spTree>
    <p:extLst>
      <p:ext uri="{BB962C8B-B14F-4D97-AF65-F5344CB8AC3E}">
        <p14:creationId xmlns:p14="http://schemas.microsoft.com/office/powerpoint/2010/main" val="1424943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EDEB2-A74F-1AB5-C26A-C00AAD34EA3A}"/>
              </a:ext>
            </a:extLst>
          </p:cNvPr>
          <p:cNvSpPr>
            <a:spLocks noGrp="1"/>
          </p:cNvSpPr>
          <p:nvPr>
            <p:ph type="title"/>
          </p:nvPr>
        </p:nvSpPr>
        <p:spPr/>
        <p:txBody>
          <a:bodyPr/>
          <a:lstStyle/>
          <a:p>
            <a:r>
              <a:rPr lang="en-US" dirty="0"/>
              <a:t>Data analysis – approach and methods</a:t>
            </a:r>
          </a:p>
        </p:txBody>
      </p:sp>
      <p:sp>
        <p:nvSpPr>
          <p:cNvPr id="3" name="Content Placeholder 2">
            <a:extLst>
              <a:ext uri="{FF2B5EF4-FFF2-40B4-BE49-F238E27FC236}">
                <a16:creationId xmlns:a16="http://schemas.microsoft.com/office/drawing/2014/main" id="{AD03BC28-FD72-3786-41DD-E03B897880A7}"/>
              </a:ext>
            </a:extLst>
          </p:cNvPr>
          <p:cNvSpPr>
            <a:spLocks noGrp="1"/>
          </p:cNvSpPr>
          <p:nvPr>
            <p:ph idx="1"/>
          </p:nvPr>
        </p:nvSpPr>
        <p:spPr/>
        <p:txBody>
          <a:bodyPr>
            <a:normAutofit fontScale="92500" lnSpcReduction="10000"/>
          </a:bodyPr>
          <a:lstStyle/>
          <a:p>
            <a:r>
              <a:rPr lang="en-US" dirty="0"/>
              <a:t>Two main approaches were used</a:t>
            </a:r>
          </a:p>
          <a:p>
            <a:pPr lvl="1"/>
            <a:r>
              <a:rPr lang="en-US" dirty="0"/>
              <a:t>What is the trend of polls over the last fifteen months?</a:t>
            </a:r>
          </a:p>
          <a:p>
            <a:pPr lvl="1"/>
            <a:r>
              <a:rPr lang="en-US" dirty="0"/>
              <a:t>Which party is leading in the polls currently?</a:t>
            </a:r>
          </a:p>
          <a:p>
            <a:r>
              <a:rPr lang="en-US" dirty="0"/>
              <a:t>To capture the trend of the polls, the net approval ratings were plotted over time.</a:t>
            </a:r>
          </a:p>
          <a:p>
            <a:pPr lvl="1"/>
            <a:r>
              <a:rPr lang="en-US" dirty="0"/>
              <a:t>Net approval is the negative or positive ratings for Democrats compared to Republicans.</a:t>
            </a:r>
          </a:p>
          <a:p>
            <a:r>
              <a:rPr lang="en-US" dirty="0"/>
              <a:t>To capture a current snapshot, approval ratings for Democrats and Republicans were plotted since February 1, 2026. </a:t>
            </a:r>
          </a:p>
          <a:p>
            <a:r>
              <a:rPr lang="en-US" dirty="0"/>
              <a:t>To summarize the findings a table shows net approval of the earliest 25 polls vs the most recent 25. </a:t>
            </a:r>
          </a:p>
        </p:txBody>
      </p:sp>
    </p:spTree>
    <p:extLst>
      <p:ext uri="{BB962C8B-B14F-4D97-AF65-F5344CB8AC3E}">
        <p14:creationId xmlns:p14="http://schemas.microsoft.com/office/powerpoint/2010/main" val="166424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9495-2A07-8AEF-2DE3-82BDACB3153B}"/>
              </a:ext>
            </a:extLst>
          </p:cNvPr>
          <p:cNvSpPr>
            <a:spLocks noGrp="1"/>
          </p:cNvSpPr>
          <p:nvPr>
            <p:ph type="title"/>
          </p:nvPr>
        </p:nvSpPr>
        <p:spPr/>
        <p:txBody>
          <a:bodyPr/>
          <a:lstStyle/>
          <a:p>
            <a:r>
              <a:rPr lang="en-US" dirty="0"/>
              <a:t>Data visualization – trend and snapshot</a:t>
            </a:r>
          </a:p>
        </p:txBody>
      </p:sp>
      <p:pic>
        <p:nvPicPr>
          <p:cNvPr id="1026" name="Picture 2">
            <a:extLst>
              <a:ext uri="{FF2B5EF4-FFF2-40B4-BE49-F238E27FC236}">
                <a16:creationId xmlns:a16="http://schemas.microsoft.com/office/drawing/2014/main" id="{90F67A81-91DA-D919-6561-C0CD3F8A73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579" y="2051751"/>
            <a:ext cx="4570573" cy="34496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1F72EF1-D6A0-2458-FCAE-2B5A3A224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1107" y="2051751"/>
            <a:ext cx="3965740" cy="3454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24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DA5B6-E485-679A-2B97-ABEACFAF5825}"/>
              </a:ext>
            </a:extLst>
          </p:cNvPr>
          <p:cNvSpPr>
            <a:spLocks noGrp="1"/>
          </p:cNvSpPr>
          <p:nvPr>
            <p:ph type="title"/>
          </p:nvPr>
        </p:nvSpPr>
        <p:spPr/>
        <p:txBody>
          <a:bodyPr/>
          <a:lstStyle/>
          <a:p>
            <a:r>
              <a:rPr lang="en-US" dirty="0"/>
              <a:t>Discussion of findings</a:t>
            </a:r>
          </a:p>
        </p:txBody>
      </p:sp>
      <p:sp>
        <p:nvSpPr>
          <p:cNvPr id="3" name="Content Placeholder 2">
            <a:extLst>
              <a:ext uri="{FF2B5EF4-FFF2-40B4-BE49-F238E27FC236}">
                <a16:creationId xmlns:a16="http://schemas.microsoft.com/office/drawing/2014/main" id="{CB939C74-6C48-EABD-3D99-7EA80B4EC46E}"/>
              </a:ext>
            </a:extLst>
          </p:cNvPr>
          <p:cNvSpPr>
            <a:spLocks noGrp="1"/>
          </p:cNvSpPr>
          <p:nvPr>
            <p:ph idx="1"/>
          </p:nvPr>
        </p:nvSpPr>
        <p:spPr>
          <a:xfrm>
            <a:off x="1294362" y="1839644"/>
            <a:ext cx="9603275" cy="3450613"/>
          </a:xfrm>
        </p:spPr>
        <p:txBody>
          <a:bodyPr>
            <a:normAutofit fontScale="92500" lnSpcReduction="10000"/>
          </a:bodyPr>
          <a:lstStyle/>
          <a:p>
            <a:r>
              <a:rPr lang="en-US" sz="2200" dirty="0"/>
              <a:t>Major Takeaway – Democrats are currently leading the polls and are trending upwards since 2025. </a:t>
            </a:r>
          </a:p>
          <a:p>
            <a:r>
              <a:rPr lang="en-US" sz="2200" dirty="0"/>
              <a:t>The trend of net approval ratings shows a steady increase in ratings for the Democrats since the start of Donald Trump’s second term. </a:t>
            </a:r>
          </a:p>
          <a:p>
            <a:r>
              <a:rPr lang="en-US" sz="2200" dirty="0"/>
              <a:t>The snapshot of February and March 2026 shows a clear lead, with nearly all polls reflecting higher ratings for Democrats. </a:t>
            </a:r>
          </a:p>
          <a:p>
            <a:pPr algn="l" latinLnBrk="1">
              <a:buNone/>
            </a:pPr>
            <a:r>
              <a:rPr lang="en-US" b="0" i="0" dirty="0">
                <a:effectLst/>
                <a:latin typeface="menlo"/>
              </a:rPr>
              <a:t> 				</a:t>
            </a:r>
          </a:p>
          <a:p>
            <a:pPr algn="l" latinLnBrk="1">
              <a:buNone/>
            </a:pPr>
            <a:r>
              <a:rPr lang="en-US" b="0" i="0" dirty="0">
                <a:effectLst/>
                <a:latin typeface="menlo"/>
              </a:rPr>
              <a:t>			</a:t>
            </a:r>
            <a:endParaRPr lang="en-US" dirty="0"/>
          </a:p>
        </p:txBody>
      </p:sp>
      <p:graphicFrame>
        <p:nvGraphicFramePr>
          <p:cNvPr id="5" name="Table 4">
            <a:extLst>
              <a:ext uri="{FF2B5EF4-FFF2-40B4-BE49-F238E27FC236}">
                <a16:creationId xmlns:a16="http://schemas.microsoft.com/office/drawing/2014/main" id="{7B520523-9B0E-17BF-AEF9-6FB638150EE2}"/>
              </a:ext>
            </a:extLst>
          </p:cNvPr>
          <p:cNvGraphicFramePr>
            <a:graphicFrameLocks noGrp="1"/>
          </p:cNvGraphicFramePr>
          <p:nvPr>
            <p:extLst>
              <p:ext uri="{D42A27DB-BD31-4B8C-83A1-F6EECF244321}">
                <p14:modId xmlns:p14="http://schemas.microsoft.com/office/powerpoint/2010/main" val="1416852181"/>
              </p:ext>
            </p:extLst>
          </p:nvPr>
        </p:nvGraphicFramePr>
        <p:xfrm>
          <a:off x="3165987" y="4119716"/>
          <a:ext cx="6007509" cy="1777672"/>
        </p:xfrm>
        <a:graphic>
          <a:graphicData uri="http://schemas.openxmlformats.org/drawingml/2006/table">
            <a:tbl>
              <a:tblPr>
                <a:tableStyleId>{5C22544A-7EE6-4342-B048-85BDC9FD1C3A}</a:tableStyleId>
              </a:tblPr>
              <a:tblGrid>
                <a:gridCol w="1275863">
                  <a:extLst>
                    <a:ext uri="{9D8B030D-6E8A-4147-A177-3AD203B41FA5}">
                      <a16:colId xmlns:a16="http://schemas.microsoft.com/office/drawing/2014/main" val="3473770705"/>
                    </a:ext>
                  </a:extLst>
                </a:gridCol>
                <a:gridCol w="1111517">
                  <a:extLst>
                    <a:ext uri="{9D8B030D-6E8A-4147-A177-3AD203B41FA5}">
                      <a16:colId xmlns:a16="http://schemas.microsoft.com/office/drawing/2014/main" val="2560282533"/>
                    </a:ext>
                  </a:extLst>
                </a:gridCol>
                <a:gridCol w="2321713">
                  <a:extLst>
                    <a:ext uri="{9D8B030D-6E8A-4147-A177-3AD203B41FA5}">
                      <a16:colId xmlns:a16="http://schemas.microsoft.com/office/drawing/2014/main" val="3271851193"/>
                    </a:ext>
                  </a:extLst>
                </a:gridCol>
                <a:gridCol w="1298416">
                  <a:extLst>
                    <a:ext uri="{9D8B030D-6E8A-4147-A177-3AD203B41FA5}">
                      <a16:colId xmlns:a16="http://schemas.microsoft.com/office/drawing/2014/main" val="360904047"/>
                    </a:ext>
                  </a:extLst>
                </a:gridCol>
              </a:tblGrid>
              <a:tr h="533014">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1100" u="none" strike="noStrike">
                          <a:effectLst/>
                        </a:rPr>
                        <a:t>Oldest 25 Polls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dirty="0">
                          <a:effectLst/>
                        </a:rPr>
                        <a:t>Newest 25 Polls</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dirty="0">
                          <a:effectLst/>
                        </a:rPr>
                        <a:t>Net Change</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951470426"/>
                  </a:ext>
                </a:extLst>
              </a:tr>
              <a:tr h="414886">
                <a:tc>
                  <a:txBody>
                    <a:bodyPr/>
                    <a:lstStyle/>
                    <a:p>
                      <a:pPr algn="l" fontAlgn="b">
                        <a:buNone/>
                      </a:pPr>
                      <a:r>
                        <a:rPr lang="en-US" sz="1100" u="none" strike="noStrike">
                          <a:effectLst/>
                        </a:rPr>
                        <a:t>Democrats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44.45 </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47.45 </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3.00 </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60001076"/>
                  </a:ext>
                </a:extLst>
              </a:tr>
              <a:tr h="414886">
                <a:tc>
                  <a:txBody>
                    <a:bodyPr/>
                    <a:lstStyle/>
                    <a:p>
                      <a:pPr algn="l" fontAlgn="b">
                        <a:buNone/>
                      </a:pPr>
                      <a:r>
                        <a:rPr lang="en-US" sz="1100" u="none" strike="noStrike">
                          <a:effectLst/>
                        </a:rPr>
                        <a:t>Republican</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44.82 </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42.79 </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(2.03)</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528942171"/>
                  </a:ext>
                </a:extLst>
              </a:tr>
              <a:tr h="414886">
                <a:tc>
                  <a:txBody>
                    <a:bodyPr/>
                    <a:lstStyle/>
                    <a:p>
                      <a:pPr algn="l" fontAlgn="b">
                        <a:buNone/>
                      </a:pPr>
                      <a:r>
                        <a:rPr lang="en-US" sz="1100" u="none" strike="noStrike">
                          <a:effectLst/>
                        </a:rPr>
                        <a:t>Net</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a:effectLst/>
                        </a:rPr>
                        <a:t>(0.38)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4.65 </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5.03 </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41565132"/>
                  </a:ext>
                </a:extLst>
              </a:tr>
            </a:tbl>
          </a:graphicData>
        </a:graphic>
      </p:graphicFrame>
    </p:spTree>
    <p:extLst>
      <p:ext uri="{BB962C8B-B14F-4D97-AF65-F5344CB8AC3E}">
        <p14:creationId xmlns:p14="http://schemas.microsoft.com/office/powerpoint/2010/main" val="1339381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8EED7-D965-F6BE-725E-16301E7FE7F6}"/>
              </a:ext>
            </a:extLst>
          </p:cNvPr>
          <p:cNvSpPr>
            <a:spLocks noGrp="1"/>
          </p:cNvSpPr>
          <p:nvPr>
            <p:ph type="title"/>
          </p:nvPr>
        </p:nvSpPr>
        <p:spPr/>
        <p:txBody>
          <a:bodyPr/>
          <a:lstStyle/>
          <a:p>
            <a:r>
              <a:rPr lang="en-US" dirty="0"/>
              <a:t>What comes next?</a:t>
            </a:r>
          </a:p>
        </p:txBody>
      </p:sp>
      <p:sp>
        <p:nvSpPr>
          <p:cNvPr id="3" name="Content Placeholder 2">
            <a:extLst>
              <a:ext uri="{FF2B5EF4-FFF2-40B4-BE49-F238E27FC236}">
                <a16:creationId xmlns:a16="http://schemas.microsoft.com/office/drawing/2014/main" id="{B729FF04-A623-389A-9E2E-B605AAB8B181}"/>
              </a:ext>
            </a:extLst>
          </p:cNvPr>
          <p:cNvSpPr>
            <a:spLocks noGrp="1"/>
          </p:cNvSpPr>
          <p:nvPr>
            <p:ph idx="1"/>
          </p:nvPr>
        </p:nvSpPr>
        <p:spPr/>
        <p:txBody>
          <a:bodyPr/>
          <a:lstStyle/>
          <a:p>
            <a:r>
              <a:rPr lang="en-US" dirty="0"/>
              <a:t>It is too early to pick a winner – polls can shift dramatically as voters change their minds. </a:t>
            </a:r>
          </a:p>
          <a:p>
            <a:r>
              <a:rPr lang="en-US" dirty="0"/>
              <a:t>What will be the effects of the Iran war and the resulting rise in prices?</a:t>
            </a:r>
          </a:p>
          <a:p>
            <a:pPr lvl="1"/>
            <a:r>
              <a:rPr lang="en-US" dirty="0"/>
              <a:t>Wars can be very polarizing on public opinion. </a:t>
            </a:r>
          </a:p>
          <a:p>
            <a:r>
              <a:rPr lang="en-US" dirty="0"/>
              <a:t>There are two other factors used in predicting midterm winners:</a:t>
            </a:r>
          </a:p>
          <a:p>
            <a:pPr lvl="1"/>
            <a:r>
              <a:rPr lang="en-US" dirty="0"/>
              <a:t>Ideological shifts in public opinion</a:t>
            </a:r>
          </a:p>
          <a:p>
            <a:pPr lvl="1"/>
            <a:r>
              <a:rPr lang="en-US" dirty="0"/>
              <a:t>Presidential approval ratings</a:t>
            </a:r>
          </a:p>
        </p:txBody>
      </p:sp>
    </p:spTree>
    <p:extLst>
      <p:ext uri="{BB962C8B-B14F-4D97-AF65-F5344CB8AC3E}">
        <p14:creationId xmlns:p14="http://schemas.microsoft.com/office/powerpoint/2010/main" val="82639024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177</TotalTime>
  <Words>631</Words>
  <Application>Microsoft Office PowerPoint</Application>
  <PresentationFormat>Widescreen</PresentationFormat>
  <Paragraphs>131</Paragraphs>
  <Slides>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4" baseType="lpstr">
      <vt:lpstr>Arial</vt:lpstr>
      <vt:lpstr>Calibri</vt:lpstr>
      <vt:lpstr>Gill Sans MT</vt:lpstr>
      <vt:lpstr>menlo</vt:lpstr>
      <vt:lpstr>Gallery</vt:lpstr>
      <vt:lpstr>Microsoft Excel Worksheet</vt:lpstr>
      <vt:lpstr>U.S. Midterm Elections 2026</vt:lpstr>
      <vt:lpstr>Will Republicans or Democrats control Congress?  Why does it matter?</vt:lpstr>
      <vt:lpstr>What is the appropriate dataset?</vt:lpstr>
      <vt:lpstr>PowerPoint Presentation</vt:lpstr>
      <vt:lpstr>Data analysis – approach and methods</vt:lpstr>
      <vt:lpstr>Data visualization – trend and snapshot</vt:lpstr>
      <vt:lpstr>Discussion of findings</vt:lpstr>
      <vt:lpstr>What comes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Bruce</dc:creator>
  <cp:lastModifiedBy>Omar Bruce</cp:lastModifiedBy>
  <cp:revision>13</cp:revision>
  <dcterms:created xsi:type="dcterms:W3CDTF">2026-03-15T15:50:25Z</dcterms:created>
  <dcterms:modified xsi:type="dcterms:W3CDTF">2026-03-15T18:48:21Z</dcterms:modified>
</cp:coreProperties>
</file>